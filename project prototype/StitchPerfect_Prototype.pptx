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1097280"/>
            <a:ext cx="3840480" cy="3840480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3" name="Shape 1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13203A"/>
          </a:solidFill>
        </p:spPr>
      </p:sp>
      <p:sp>
        <p:nvSpPr>
          <p:cNvPr id="4" name="Text 2"/>
          <p:cNvSpPr txBox="1"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PROJECT   •   PROTOTYPE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868680"/>
            <a:ext cx="1005840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StitchPerfect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74520"/>
            <a:ext cx="9144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Tailor Shop Management System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2450592"/>
            <a:ext cx="10058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6032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Uday Singh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871216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C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1024160031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52044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BFAF7"/>
          </a:solidFill>
          <a:ln w="9525">
            <a:solidFill>
              <a:srgbClr val="DDD6C8"/>
            </a:solidFill>
            <a:prstDash val="solid"/>
          </a:ln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3776472"/>
            <a:ext cx="310896" cy="310896"/>
          </a:xfrm>
          <a:prstGeom prst="ellipse">
            <a:avLst/>
          </a:prstGeom>
          <a:solidFill>
            <a:srgbClr val="C9A227"/>
          </a:solidFill>
        </p:spPr>
      </p:sp>
      <p:sp>
        <p:nvSpPr>
          <p:cNvPr id="12" name="Text 10"/>
          <p:cNvSpPr txBox="1"/>
          <p:nvPr/>
        </p:nvSpPr>
        <p:spPr>
          <a:xfrm>
            <a:off x="1353312" y="3721608"/>
            <a:ext cx="4343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96112" y="4270248"/>
            <a:ext cx="4745736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14400" y="4416552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5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management of tailor-shop records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and order management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Worker workflows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and ML-assisted measurement entry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309360" y="3520440"/>
            <a:ext cx="5257800" cy="2880360"/>
          </a:xfrm>
          <a:prstGeom prst="roundRect">
            <a:avLst>
              <a:gd name="adj" fmla="val 2540"/>
            </a:avLst>
          </a:prstGeom>
          <a:solidFill>
            <a:srgbClr val="FBFAF7"/>
          </a:solidFill>
          <a:ln w="9525">
            <a:solidFill>
              <a:srgbClr val="DDD6C8"/>
            </a:solidFill>
            <a:prstDash val="solid"/>
          </a:ln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65392" y="3776472"/>
            <a:ext cx="310896" cy="310896"/>
          </a:xfrm>
          <a:prstGeom prst="ellipse">
            <a:avLst/>
          </a:prstGeom>
          <a:solidFill>
            <a:srgbClr val="A85C32"/>
          </a:solidFill>
        </p:spPr>
      </p:sp>
      <p:sp>
        <p:nvSpPr>
          <p:cNvPr id="17" name="Text 15"/>
          <p:cNvSpPr txBox="1"/>
          <p:nvPr/>
        </p:nvSpPr>
        <p:spPr>
          <a:xfrm>
            <a:off x="7022592" y="3721608"/>
            <a:ext cx="434340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Milestone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65392" y="4270248"/>
            <a:ext cx="4745736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4416552"/>
            <a:ext cx="4709160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5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approximately 50% completed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and Worker interfaces under development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predictor workflow established</a:t>
            </a:r>
            <a:endParaRPr lang="en-US" sz="1350" dirty="0"/>
          </a:p>
          <a:p>
            <a:pPr marL="177800" indent="-177800">
              <a:lnSpc>
                <a:spcPts val="1950"/>
              </a:lnSpc>
              <a:spcAft>
                <a:spcPts val="700"/>
              </a:spcAft>
              <a:buSzPct val="100000"/>
              <a:buChar char="▪"/>
            </a:pPr>
            <a:r>
              <a:rPr lang="en-US" sz="135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database integration upcoming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METHODOLOGY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Architecture: Digital Tailor Management Flow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02152" cy="2880360"/>
          </a:xfrm>
          <a:prstGeom prst="roundRect">
            <a:avLst>
              <a:gd name="adj" fmla="val 2540"/>
            </a:avLst>
          </a:prstGeom>
          <a:solidFill>
            <a:srgbClr val="FBFAF7"/>
          </a:solidFill>
          <a:ln w="9525">
            <a:solidFill>
              <a:srgbClr val="DDD6C8"/>
            </a:solidFill>
            <a:prstDash val="solid"/>
          </a:ln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627632"/>
            <a:ext cx="310896" cy="310896"/>
          </a:xfrm>
          <a:prstGeom prst="ellipse">
            <a:avLst/>
          </a:prstGeom>
          <a:solidFill>
            <a:srgbClr val="1B2A4A"/>
          </a:solidFill>
        </p:spPr>
      </p:sp>
      <p:sp>
        <p:nvSpPr>
          <p:cNvPr id="6" name="Text 4"/>
          <p:cNvSpPr txBox="1"/>
          <p:nvPr/>
        </p:nvSpPr>
        <p:spPr>
          <a:xfrm>
            <a:off x="1261872" y="1572768"/>
            <a:ext cx="25877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1: User Interface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04672" y="2121408"/>
            <a:ext cx="2990088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267712"/>
            <a:ext cx="2953512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200" dirty="0"/>
          </a:p>
          <a:p>
            <a:pPr marL="177800" indent="-177800">
              <a:lnSpc>
                <a:spcPts val="1600"/>
              </a:lnSpc>
              <a:spcAft>
                <a:spcPts val="400"/>
              </a:spcAft>
              <a:buSzPct val="100000"/>
              <a:buChar char="▪"/>
            </a:pPr>
            <a:r>
              <a:rPr lang="en-US" sz="12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Console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371600"/>
            <a:ext cx="3502152" cy="2880360"/>
          </a:xfrm>
          <a:prstGeom prst="roundRect">
            <a:avLst>
              <a:gd name="adj" fmla="val 2540"/>
            </a:avLst>
          </a:prstGeom>
          <a:solidFill>
            <a:srgbClr val="FBFAF7"/>
          </a:solidFill>
          <a:ln w="9525">
            <a:solidFill>
              <a:srgbClr val="DDD6C8"/>
            </a:solidFill>
            <a:prstDash val="solid"/>
          </a:ln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81144" y="1627632"/>
            <a:ext cx="310896" cy="310896"/>
          </a:xfrm>
          <a:prstGeom prst="ellipse">
            <a:avLst/>
          </a:prstGeom>
          <a:solidFill>
            <a:srgbClr val="C9A227"/>
          </a:solidFill>
        </p:spPr>
      </p:sp>
      <p:sp>
        <p:nvSpPr>
          <p:cNvPr id="11" name="Text 9"/>
          <p:cNvSpPr txBox="1"/>
          <p:nvPr/>
        </p:nvSpPr>
        <p:spPr>
          <a:xfrm>
            <a:off x="5038344" y="1572768"/>
            <a:ext cx="25877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2: Application Layer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581144" y="2121408"/>
            <a:ext cx="2990088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99432" y="2267712"/>
            <a:ext cx="2953512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management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01584" y="1371600"/>
            <a:ext cx="3502152" cy="2880360"/>
          </a:xfrm>
          <a:prstGeom prst="roundRect">
            <a:avLst>
              <a:gd name="adj" fmla="val 2540"/>
            </a:avLst>
          </a:prstGeom>
          <a:solidFill>
            <a:srgbClr val="FBFAF7"/>
          </a:solidFill>
          <a:ln w="9525">
            <a:solidFill>
              <a:srgbClr val="DDD6C8"/>
            </a:solidFill>
            <a:prstDash val="solid"/>
          </a:ln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57616" y="1627632"/>
            <a:ext cx="310896" cy="310896"/>
          </a:xfrm>
          <a:prstGeom prst="ellipse">
            <a:avLst/>
          </a:prstGeom>
          <a:solidFill>
            <a:srgbClr val="A85C32"/>
          </a:solidFill>
        </p:spPr>
      </p:sp>
      <p:sp>
        <p:nvSpPr>
          <p:cNvPr id="16" name="Text 14"/>
          <p:cNvSpPr txBox="1"/>
          <p:nvPr/>
        </p:nvSpPr>
        <p:spPr>
          <a:xfrm>
            <a:off x="8814816" y="1572768"/>
            <a:ext cx="2587752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3: Data &amp; Intelligence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357616" y="2121408"/>
            <a:ext cx="2990088" cy="0"/>
          </a:xfrm>
          <a:prstGeom prst="line">
            <a:avLst/>
          </a:prstGeom>
          <a:noFill/>
          <a:ln w="12700">
            <a:solidFill>
              <a:srgbClr val="DDD6C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75904" y="2267712"/>
            <a:ext cx="2953512" cy="1828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records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Measurement Predictor</a:t>
            </a:r>
            <a:endParaRPr lang="en-US" sz="1300" dirty="0"/>
          </a:p>
          <a:p>
            <a:pPr marL="177800" indent="-177800">
              <a:lnSpc>
                <a:spcPts val="1900"/>
              </a:lnSpc>
              <a:spcAft>
                <a:spcPts val="700"/>
              </a:spcAft>
              <a:buSzPct val="100000"/>
              <a:buChar char="▪"/>
            </a:pPr>
            <a:r>
              <a:rPr lang="en-US" sz="1300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verification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498848"/>
            <a:ext cx="5486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Flow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864608"/>
            <a:ext cx="1584960" cy="1005840"/>
          </a:xfrm>
          <a:prstGeom prst="roundRect">
            <a:avLst>
              <a:gd name="adj" fmla="val 6364"/>
            </a:avLst>
          </a:prstGeom>
          <a:solidFill>
            <a:srgbClr val="1B2A4A"/>
          </a:solidFill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03504" y="4864608"/>
            <a:ext cx="14752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Worker</a:t>
            </a:r>
            <a:endParaRPr lang="en-US" sz="12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151888" y="5285232"/>
            <a:ext cx="274320" cy="164592"/>
          </a:xfrm>
          <a:prstGeom prst="rightArrow">
            <a:avLst/>
          </a:prstGeom>
          <a:solidFill>
            <a:srgbClr val="C9A227"/>
          </a:solidFill>
        </p:spPr>
      </p:sp>
      <p:sp>
        <p:nvSpPr>
          <p:cNvPr id="23" name="Shape 21"/>
          <p:cNvSpPr/>
          <p:nvPr/>
        </p:nvSpPr>
        <p:spPr>
          <a:xfrm>
            <a:off x="2444496" y="4864608"/>
            <a:ext cx="1584960" cy="1005840"/>
          </a:xfrm>
          <a:prstGeom prst="roundRect">
            <a:avLst>
              <a:gd name="adj" fmla="val 6364"/>
            </a:avLst>
          </a:prstGeom>
          <a:solidFill>
            <a:srgbClr val="1B2A4A"/>
          </a:solidFill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2499360" y="4864608"/>
            <a:ext cx="14752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047744" y="5285232"/>
            <a:ext cx="274320" cy="164592"/>
          </a:xfrm>
          <a:prstGeom prst="rightArrow">
            <a:avLst/>
          </a:prstGeom>
          <a:solidFill>
            <a:srgbClr val="C9A227"/>
          </a:solidFill>
        </p:spPr>
      </p:sp>
      <p:sp>
        <p:nvSpPr>
          <p:cNvPr id="26" name="Shape 24"/>
          <p:cNvSpPr/>
          <p:nvPr/>
        </p:nvSpPr>
        <p:spPr>
          <a:xfrm>
            <a:off x="4340352" y="4864608"/>
            <a:ext cx="1584960" cy="1005840"/>
          </a:xfrm>
          <a:prstGeom prst="roundRect">
            <a:avLst>
              <a:gd name="adj" fmla="val 6364"/>
            </a:avLst>
          </a:prstGeom>
          <a:solidFill>
            <a:srgbClr val="1B2A4A"/>
          </a:solidFill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4395216" y="4864608"/>
            <a:ext cx="14752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Measurements /</a:t>
            </a:r>
            <a:endParaRPr lang="en-US" sz="12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943600" y="5285232"/>
            <a:ext cx="274320" cy="164592"/>
          </a:xfrm>
          <a:prstGeom prst="rightArrow">
            <a:avLst/>
          </a:prstGeom>
          <a:solidFill>
            <a:srgbClr val="C9A227"/>
          </a:solidFill>
        </p:spPr>
      </p:sp>
      <p:sp>
        <p:nvSpPr>
          <p:cNvPr id="29" name="Shape 27"/>
          <p:cNvSpPr/>
          <p:nvPr/>
        </p:nvSpPr>
        <p:spPr>
          <a:xfrm>
            <a:off x="6236208" y="4864608"/>
            <a:ext cx="1584960" cy="1005840"/>
          </a:xfrm>
          <a:prstGeom prst="roundRect">
            <a:avLst>
              <a:gd name="adj" fmla="val 6364"/>
            </a:avLst>
          </a:prstGeom>
          <a:solidFill>
            <a:srgbClr val="1B2A4A"/>
          </a:solidFill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291072" y="4864608"/>
            <a:ext cx="14752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839456" y="5285232"/>
            <a:ext cx="274320" cy="164592"/>
          </a:xfrm>
          <a:prstGeom prst="rightArrow">
            <a:avLst/>
          </a:prstGeom>
          <a:solidFill>
            <a:srgbClr val="C9A227"/>
          </a:solidFill>
        </p:spPr>
      </p:sp>
      <p:sp>
        <p:nvSpPr>
          <p:cNvPr id="32" name="Shape 30"/>
          <p:cNvSpPr/>
          <p:nvPr/>
        </p:nvSpPr>
        <p:spPr>
          <a:xfrm>
            <a:off x="8132064" y="4864608"/>
            <a:ext cx="1584960" cy="1005840"/>
          </a:xfrm>
          <a:prstGeom prst="roundRect">
            <a:avLst>
              <a:gd name="adj" fmla="val 6364"/>
            </a:avLst>
          </a:prstGeom>
          <a:solidFill>
            <a:srgbClr val="1B2A4A"/>
          </a:solidFill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186928" y="4864608"/>
            <a:ext cx="14752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25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735312" y="5285232"/>
            <a:ext cx="274320" cy="164592"/>
          </a:xfrm>
          <a:prstGeom prst="rightArrow">
            <a:avLst/>
          </a:prstGeom>
          <a:solidFill>
            <a:srgbClr val="C9A227"/>
          </a:solidFill>
        </p:spPr>
      </p:sp>
      <p:sp>
        <p:nvSpPr>
          <p:cNvPr id="35" name="Shape 33"/>
          <p:cNvSpPr/>
          <p:nvPr/>
        </p:nvSpPr>
        <p:spPr>
          <a:xfrm>
            <a:off x="10027920" y="4864608"/>
            <a:ext cx="1584960" cy="1005840"/>
          </a:xfrm>
          <a:prstGeom prst="roundRect">
            <a:avLst>
              <a:gd name="adj" fmla="val 6364"/>
            </a:avLst>
          </a:prstGeom>
          <a:solidFill>
            <a:srgbClr val="1B2A4A"/>
          </a:solidFill>
          <a:effectLst>
            <a:outerShdw blurRad="508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10082784" y="4864608"/>
            <a:ext cx="1475232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RESULTS &amp; DEMONSTRATION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 Results: Frontend Implementation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78992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Demonstration of the current StitchPerfect prototype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5F1E8"/>
          </a:solidFill>
          <a:ln w="12700">
            <a:solidFill>
              <a:srgbClr val="DDD6C8"/>
            </a:solidFill>
            <a:prstDash val="solid"/>
          </a:ln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34924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</p:spPr>
      </p:sp>
      <p:sp>
        <p:nvSpPr>
          <p:cNvPr id="7" name="Shape 5"/>
          <p:cNvSpPr/>
          <p:nvPr/>
        </p:nvSpPr>
        <p:spPr>
          <a:xfrm>
            <a:off x="548640" y="1755648"/>
            <a:ext cx="5349240" cy="155448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8" name="Shape 6"/>
          <p:cNvSpPr/>
          <p:nvPr/>
        </p:nvSpPr>
        <p:spPr>
          <a:xfrm>
            <a:off x="713232" y="170078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9" name="Shape 7"/>
          <p:cNvSpPr/>
          <p:nvPr/>
        </p:nvSpPr>
        <p:spPr>
          <a:xfrm>
            <a:off x="914400" y="170078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0" name="Shape 8"/>
          <p:cNvSpPr/>
          <p:nvPr/>
        </p:nvSpPr>
        <p:spPr>
          <a:xfrm>
            <a:off x="1115568" y="170078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1" name="Text 9"/>
          <p:cNvSpPr txBox="1"/>
          <p:nvPr/>
        </p:nvSpPr>
        <p:spPr>
          <a:xfrm>
            <a:off x="731520" y="2057400"/>
            <a:ext cx="4983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(replace with prototype capture)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47872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Admin Dashboard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63640" y="160020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5F1E8"/>
          </a:solidFill>
          <a:ln w="12700">
            <a:solidFill>
              <a:srgbClr val="DDD6C8"/>
            </a:solidFill>
            <a:prstDash val="solid"/>
          </a:ln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00200"/>
            <a:ext cx="5349240" cy="310896"/>
          </a:xfrm>
          <a:prstGeom prst="roundRect">
            <a:avLst>
              <a:gd name="adj" fmla="val 17647"/>
            </a:avLst>
          </a:prstGeom>
          <a:solidFill>
            <a:srgbClr val="C9A227"/>
          </a:solidFill>
        </p:spPr>
      </p:sp>
      <p:sp>
        <p:nvSpPr>
          <p:cNvPr id="15" name="Shape 13"/>
          <p:cNvSpPr/>
          <p:nvPr/>
        </p:nvSpPr>
        <p:spPr>
          <a:xfrm>
            <a:off x="6263640" y="1755648"/>
            <a:ext cx="5349240" cy="155448"/>
          </a:xfrm>
          <a:prstGeom prst="rect">
            <a:avLst/>
          </a:prstGeom>
          <a:solidFill>
            <a:srgbClr val="C9A227"/>
          </a:solidFill>
        </p:spPr>
      </p:sp>
      <p:sp>
        <p:nvSpPr>
          <p:cNvPr id="16" name="Shape 14"/>
          <p:cNvSpPr/>
          <p:nvPr/>
        </p:nvSpPr>
        <p:spPr>
          <a:xfrm>
            <a:off x="6428232" y="170078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7" name="Shape 15"/>
          <p:cNvSpPr/>
          <p:nvPr/>
        </p:nvSpPr>
        <p:spPr>
          <a:xfrm>
            <a:off x="6629400" y="170078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8" name="Shape 16"/>
          <p:cNvSpPr/>
          <p:nvPr/>
        </p:nvSpPr>
        <p:spPr>
          <a:xfrm>
            <a:off x="6830568" y="170078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19" name="Text 17"/>
          <p:cNvSpPr txBox="1"/>
          <p:nvPr/>
        </p:nvSpPr>
        <p:spPr>
          <a:xfrm>
            <a:off x="6446520" y="2057400"/>
            <a:ext cx="4983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(replace with prototype capture)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63640" y="3547872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Measurement Interface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2519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5F1E8"/>
          </a:solidFill>
          <a:ln w="12700">
            <a:solidFill>
              <a:srgbClr val="DDD6C8"/>
            </a:solidFill>
            <a:prstDash val="solid"/>
          </a:ln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251960"/>
            <a:ext cx="5349240" cy="310896"/>
          </a:xfrm>
          <a:prstGeom prst="roundRect">
            <a:avLst>
              <a:gd name="adj" fmla="val 17647"/>
            </a:avLst>
          </a:prstGeom>
          <a:solidFill>
            <a:srgbClr val="A85C32"/>
          </a:solidFill>
        </p:spPr>
      </p:sp>
      <p:sp>
        <p:nvSpPr>
          <p:cNvPr id="23" name="Shape 21"/>
          <p:cNvSpPr/>
          <p:nvPr/>
        </p:nvSpPr>
        <p:spPr>
          <a:xfrm>
            <a:off x="548640" y="4407408"/>
            <a:ext cx="5349240" cy="155448"/>
          </a:xfrm>
          <a:prstGeom prst="rect">
            <a:avLst/>
          </a:prstGeom>
          <a:solidFill>
            <a:srgbClr val="A85C32"/>
          </a:solidFill>
        </p:spPr>
      </p:sp>
      <p:sp>
        <p:nvSpPr>
          <p:cNvPr id="24" name="Shape 22"/>
          <p:cNvSpPr/>
          <p:nvPr/>
        </p:nvSpPr>
        <p:spPr>
          <a:xfrm>
            <a:off x="713232" y="435254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5" name="Shape 23"/>
          <p:cNvSpPr/>
          <p:nvPr/>
        </p:nvSpPr>
        <p:spPr>
          <a:xfrm>
            <a:off x="914400" y="435254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6" name="Shape 24"/>
          <p:cNvSpPr/>
          <p:nvPr/>
        </p:nvSpPr>
        <p:spPr>
          <a:xfrm>
            <a:off x="1115568" y="435254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27" name="Text 25"/>
          <p:cNvSpPr txBox="1"/>
          <p:nvPr/>
        </p:nvSpPr>
        <p:spPr>
          <a:xfrm>
            <a:off x="731520" y="4709160"/>
            <a:ext cx="4983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(replace with prototype capture)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199632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Predictor</a:t>
            </a:r>
            <a:endParaRPr lang="en-US" sz="1300" b="1" dirty="0">
              <a:solidFill>
                <a:srgbClr val="1B2A4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63640" y="4251960"/>
            <a:ext cx="5349240" cy="2331720"/>
          </a:xfrm>
          <a:prstGeom prst="roundRect">
            <a:avLst>
              <a:gd name="adj" fmla="val 2353"/>
            </a:avLst>
          </a:prstGeom>
          <a:solidFill>
            <a:srgbClr val="F5F1E8"/>
          </a:solidFill>
          <a:ln w="12700">
            <a:solidFill>
              <a:srgbClr val="DDD6C8"/>
            </a:solidFill>
            <a:prstDash val="solid"/>
          </a:ln>
          <a:effectLst>
            <a:outerShdw blurRad="76200" dist="25400" dir="5400000" algn="bl" rotWithShape="0">
              <a:srgbClr val="1B2A4A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4251960"/>
            <a:ext cx="5349240" cy="310896"/>
          </a:xfrm>
          <a:prstGeom prst="roundRect">
            <a:avLst>
              <a:gd name="adj" fmla="val 17647"/>
            </a:avLst>
          </a:prstGeom>
          <a:solidFill>
            <a:srgbClr val="1B2A4A"/>
          </a:solidFill>
        </p:spPr>
      </p:sp>
      <p:sp>
        <p:nvSpPr>
          <p:cNvPr id="31" name="Shape 29"/>
          <p:cNvSpPr/>
          <p:nvPr/>
        </p:nvSpPr>
        <p:spPr>
          <a:xfrm>
            <a:off x="6263640" y="4407408"/>
            <a:ext cx="5349240" cy="155448"/>
          </a:xfrm>
          <a:prstGeom prst="rect">
            <a:avLst/>
          </a:prstGeom>
          <a:solidFill>
            <a:srgbClr val="1B2A4A"/>
          </a:solidFill>
        </p:spPr>
      </p:sp>
      <p:sp>
        <p:nvSpPr>
          <p:cNvPr id="32" name="Shape 30"/>
          <p:cNvSpPr/>
          <p:nvPr/>
        </p:nvSpPr>
        <p:spPr>
          <a:xfrm>
            <a:off x="6428232" y="435254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3" name="Shape 31"/>
          <p:cNvSpPr/>
          <p:nvPr/>
        </p:nvSpPr>
        <p:spPr>
          <a:xfrm>
            <a:off x="6629400" y="435254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4" name="Shape 32"/>
          <p:cNvSpPr/>
          <p:nvPr/>
        </p:nvSpPr>
        <p:spPr>
          <a:xfrm>
            <a:off x="6830568" y="4352544"/>
            <a:ext cx="100584" cy="100584"/>
          </a:xfrm>
          <a:prstGeom prst="ellipse">
            <a:avLst/>
          </a:prstGeom>
          <a:solidFill>
            <a:srgbClr val="FFFFFF"/>
          </a:solidFill>
        </p:spPr>
      </p:sp>
      <p:sp>
        <p:nvSpPr>
          <p:cNvPr id="35" name="Text 33"/>
          <p:cNvSpPr txBox="1"/>
          <p:nvPr/>
        </p:nvSpPr>
        <p:spPr>
          <a:xfrm>
            <a:off x="6446520" y="4709160"/>
            <a:ext cx="498348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1200" dirty="0"/>
          </a:p>
          <a:p>
            <a:pPr marL="0" indent="0" algn="ctr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(replace with prototype capture)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263640" y="6199632"/>
            <a:ext cx="53492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Worker Console</a:t>
            </a:r>
            <a:endParaRPr lang="en-US" sz="1300" dirty="0"/>
          </a:p>
        </p:txBody>
      </p:sp>
      <p:pic>
        <p:nvPicPr>
          <p:cNvPr id="37" name="Picture 36" descr="Screenshot 2026-09-16 at 1.27.05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6025" y="1941195"/>
            <a:ext cx="3724275" cy="1957705"/>
          </a:xfrm>
          <a:prstGeom prst="rect">
            <a:avLst/>
          </a:prstGeom>
        </p:spPr>
      </p:pic>
      <p:pic>
        <p:nvPicPr>
          <p:cNvPr id="38" name="Picture 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695" y="1925320"/>
            <a:ext cx="4168140" cy="1986915"/>
          </a:xfrm>
          <a:prstGeom prst="rect">
            <a:avLst/>
          </a:prstGeom>
        </p:spPr>
      </p:pic>
      <p:pic>
        <p:nvPicPr>
          <p:cNvPr id="39" name="Picture 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6660" y="4568190"/>
            <a:ext cx="4129405" cy="2004060"/>
          </a:xfrm>
          <a:prstGeom prst="rect">
            <a:avLst/>
          </a:prstGeom>
        </p:spPr>
      </p:pic>
      <p:pic>
        <p:nvPicPr>
          <p:cNvPr id="40" name="Picture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695" y="4570095"/>
            <a:ext cx="4413250" cy="19697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WORKFLOW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Order Journey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87088" y="1298448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632808" y="129844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22696" y="1682496"/>
            <a:ext cx="146304" cy="105156"/>
          </a:xfrm>
          <a:prstGeom prst="downArrow">
            <a:avLst/>
          </a:prstGeom>
          <a:solidFill>
            <a:srgbClr val="C9A227"/>
          </a:solidFill>
        </p:spPr>
      </p:sp>
      <p:sp>
        <p:nvSpPr>
          <p:cNvPr id="7" name="Shape 5"/>
          <p:cNvSpPr/>
          <p:nvPr/>
        </p:nvSpPr>
        <p:spPr>
          <a:xfrm>
            <a:off x="4587088" y="1787652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632808" y="178765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ROLE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 flipH="1">
            <a:off x="3901288" y="2171700"/>
            <a:ext cx="2194560" cy="105156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95848" y="2171700"/>
            <a:ext cx="2194560" cy="105156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18308" y="2276856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A85C32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964028" y="2276856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07428" y="2276856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A85C32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353148" y="2276856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18308" y="276606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2964028" y="2766060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07428" y="2766060"/>
            <a:ext cx="1965960" cy="384048"/>
          </a:xfrm>
          <a:prstGeom prst="roundRect">
            <a:avLst>
              <a:gd name="adj" fmla="val 16667"/>
            </a:avLst>
          </a:prstGeom>
          <a:solidFill>
            <a:srgbClr val="C9A227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353148" y="2766060"/>
            <a:ext cx="18745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Console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01288" y="3150108"/>
            <a:ext cx="2194560" cy="105156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6095848" y="3150108"/>
            <a:ext cx="2194560" cy="105156"/>
          </a:xfrm>
          <a:prstGeom prst="line">
            <a:avLst/>
          </a:prstGeom>
          <a:noFill/>
          <a:ln w="22225">
            <a:solidFill>
              <a:srgbClr val="C9A2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12768" y="3255264"/>
            <a:ext cx="3566160" cy="38404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358488" y="3255264"/>
            <a:ext cx="347472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Measurement / Predictor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22696" y="3639312"/>
            <a:ext cx="146304" cy="105156"/>
          </a:xfrm>
          <a:prstGeom prst="downArrow">
            <a:avLst/>
          </a:prstGeom>
          <a:solidFill>
            <a:srgbClr val="C9A227"/>
          </a:solidFill>
        </p:spPr>
      </p:sp>
      <p:sp>
        <p:nvSpPr>
          <p:cNvPr id="24" name="Shape 22"/>
          <p:cNvSpPr/>
          <p:nvPr/>
        </p:nvSpPr>
        <p:spPr>
          <a:xfrm>
            <a:off x="4587088" y="3744468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632808" y="3744468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Measurements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022696" y="4128516"/>
            <a:ext cx="146304" cy="105156"/>
          </a:xfrm>
          <a:prstGeom prst="downArrow">
            <a:avLst/>
          </a:prstGeom>
          <a:solidFill>
            <a:srgbClr val="C9A227"/>
          </a:solidFill>
        </p:spPr>
      </p:sp>
      <p:sp>
        <p:nvSpPr>
          <p:cNvPr id="27" name="Shape 25"/>
          <p:cNvSpPr/>
          <p:nvPr/>
        </p:nvSpPr>
        <p:spPr>
          <a:xfrm>
            <a:off x="4587088" y="4233672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A85C32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4632808" y="4233672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Order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022696" y="4617720"/>
            <a:ext cx="146304" cy="105156"/>
          </a:xfrm>
          <a:prstGeom prst="downArrow">
            <a:avLst/>
          </a:prstGeom>
          <a:solidFill>
            <a:srgbClr val="C9A227"/>
          </a:solidFill>
        </p:spPr>
      </p:sp>
      <p:sp>
        <p:nvSpPr>
          <p:cNvPr id="30" name="Shape 28"/>
          <p:cNvSpPr/>
          <p:nvPr/>
        </p:nvSpPr>
        <p:spPr>
          <a:xfrm>
            <a:off x="4587088" y="4722876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4632808" y="4722876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Worker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022696" y="5106924"/>
            <a:ext cx="146304" cy="105156"/>
          </a:xfrm>
          <a:prstGeom prst="downArrow">
            <a:avLst/>
          </a:prstGeom>
          <a:solidFill>
            <a:srgbClr val="C9A227"/>
          </a:solidFill>
        </p:spPr>
      </p:sp>
      <p:sp>
        <p:nvSpPr>
          <p:cNvPr id="33" name="Shape 31"/>
          <p:cNvSpPr/>
          <p:nvPr/>
        </p:nvSpPr>
        <p:spPr>
          <a:xfrm>
            <a:off x="4587088" y="5212080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A85C32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4632808" y="5212080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Stitching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022696" y="5596128"/>
            <a:ext cx="146304" cy="105156"/>
          </a:xfrm>
          <a:prstGeom prst="downArrow">
            <a:avLst/>
          </a:prstGeom>
          <a:solidFill>
            <a:srgbClr val="C9A227"/>
          </a:solidFill>
        </p:spPr>
      </p:sp>
      <p:sp>
        <p:nvSpPr>
          <p:cNvPr id="36" name="Shape 34"/>
          <p:cNvSpPr/>
          <p:nvPr/>
        </p:nvSpPr>
        <p:spPr>
          <a:xfrm>
            <a:off x="4587088" y="5701284"/>
            <a:ext cx="3017520" cy="384048"/>
          </a:xfrm>
          <a:prstGeom prst="roundRect">
            <a:avLst>
              <a:gd name="adj" fmla="val 16667"/>
            </a:avLst>
          </a:prstGeom>
          <a:solidFill>
            <a:srgbClr val="1B2A4A"/>
          </a:solidFill>
          <a:effectLst>
            <a:outerShdw blurRad="38100" dist="127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632808" y="5701284"/>
            <a:ext cx="29260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022696" y="6085332"/>
            <a:ext cx="146304" cy="105156"/>
          </a:xfrm>
          <a:prstGeom prst="downArrow">
            <a:avLst/>
          </a:prstGeom>
          <a:solidFill>
            <a:srgbClr val="C9A227"/>
          </a:solidFill>
        </p:spPr>
      </p:sp>
      <p:sp>
        <p:nvSpPr>
          <p:cNvPr id="39" name="Shape 37"/>
          <p:cNvSpPr/>
          <p:nvPr/>
        </p:nvSpPr>
        <p:spPr>
          <a:xfrm>
            <a:off x="4587088" y="6190488"/>
            <a:ext cx="3017520" cy="457200"/>
          </a:xfrm>
          <a:prstGeom prst="roundRect">
            <a:avLst>
              <a:gd name="adj" fmla="val 16000"/>
            </a:avLst>
          </a:prstGeom>
          <a:solidFill>
            <a:srgbClr val="C9A227"/>
          </a:solidFill>
          <a:effectLst>
            <a:outerShdw blurRad="50800" dist="127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4587088" y="6190488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320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COMPLETED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&amp; 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Progress &amp; Roadmap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Prototype Progress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98424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258568"/>
            <a:ext cx="4526280" cy="146304"/>
          </a:xfrm>
          <a:prstGeom prst="roundRect">
            <a:avLst>
              <a:gd name="adj" fmla="val 50000"/>
            </a:avLst>
          </a:prstGeom>
          <a:solidFill>
            <a:srgbClr val="E8E3D6"/>
          </a:solidFill>
        </p:spPr>
      </p:sp>
      <p:sp>
        <p:nvSpPr>
          <p:cNvPr id="7" name="Shape 5"/>
          <p:cNvSpPr/>
          <p:nvPr/>
        </p:nvSpPr>
        <p:spPr>
          <a:xfrm>
            <a:off x="548640" y="2258568"/>
            <a:ext cx="4526280" cy="146304"/>
          </a:xfrm>
          <a:prstGeom prst="roundRect">
            <a:avLst>
              <a:gd name="adj" fmla="val 50000"/>
            </a:avLst>
          </a:prstGeom>
          <a:solidFill>
            <a:srgbClr val="1B2A4A"/>
          </a:solidFill>
        </p:spPr>
      </p:sp>
      <p:sp>
        <p:nvSpPr>
          <p:cNvPr id="8" name="Text 6"/>
          <p:cNvSpPr txBox="1"/>
          <p:nvPr/>
        </p:nvSpPr>
        <p:spPr>
          <a:xfrm>
            <a:off x="5120640" y="2148840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42616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4526280" cy="146304"/>
          </a:xfrm>
          <a:prstGeom prst="roundRect">
            <a:avLst>
              <a:gd name="adj" fmla="val 50000"/>
            </a:avLst>
          </a:prstGeom>
          <a:solidFill>
            <a:srgbClr val="E8E3D6"/>
          </a:solidFill>
        </p:spPr>
      </p:sp>
      <p:sp>
        <p:nvSpPr>
          <p:cNvPr id="11" name="Shape 9"/>
          <p:cNvSpPr/>
          <p:nvPr/>
        </p:nvSpPr>
        <p:spPr>
          <a:xfrm>
            <a:off x="548640" y="2916936"/>
            <a:ext cx="4526280" cy="146304"/>
          </a:xfrm>
          <a:prstGeom prst="roundRect">
            <a:avLst>
              <a:gd name="adj" fmla="val 50000"/>
            </a:avLst>
          </a:prstGeom>
          <a:solidFill>
            <a:srgbClr val="1B2A4A"/>
          </a:solidFill>
        </p:spPr>
      </p:sp>
      <p:sp>
        <p:nvSpPr>
          <p:cNvPr id="12" name="Text 10"/>
          <p:cNvSpPr txBox="1"/>
          <p:nvPr/>
        </p:nvSpPr>
        <p:spPr>
          <a:xfrm>
            <a:off x="5120640" y="2807208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300984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Planning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575304"/>
            <a:ext cx="4526280" cy="146304"/>
          </a:xfrm>
          <a:prstGeom prst="roundRect">
            <a:avLst>
              <a:gd name="adj" fmla="val 50000"/>
            </a:avLst>
          </a:prstGeom>
          <a:solidFill>
            <a:srgbClr val="E8E3D6"/>
          </a:solidFill>
        </p:spPr>
      </p:sp>
      <p:sp>
        <p:nvSpPr>
          <p:cNvPr id="15" name="Shape 13"/>
          <p:cNvSpPr/>
          <p:nvPr/>
        </p:nvSpPr>
        <p:spPr>
          <a:xfrm>
            <a:off x="548640" y="3575304"/>
            <a:ext cx="4526280" cy="146304"/>
          </a:xfrm>
          <a:prstGeom prst="roundRect">
            <a:avLst>
              <a:gd name="adj" fmla="val 50000"/>
            </a:avLst>
          </a:prstGeom>
          <a:solidFill>
            <a:srgbClr val="1B2A4A"/>
          </a:solidFill>
        </p:spPr>
      </p:sp>
      <p:sp>
        <p:nvSpPr>
          <p:cNvPr id="16" name="Text 14"/>
          <p:cNvSpPr txBox="1"/>
          <p:nvPr/>
        </p:nvSpPr>
        <p:spPr>
          <a:xfrm>
            <a:off x="5120640" y="3465576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959352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233672"/>
            <a:ext cx="4526280" cy="146304"/>
          </a:xfrm>
          <a:prstGeom prst="roundRect">
            <a:avLst>
              <a:gd name="adj" fmla="val 50000"/>
            </a:avLst>
          </a:prstGeom>
          <a:solidFill>
            <a:srgbClr val="E8E3D6"/>
          </a:solidFill>
        </p:spPr>
      </p:sp>
      <p:sp>
        <p:nvSpPr>
          <p:cNvPr id="19" name="Shape 17"/>
          <p:cNvSpPr/>
          <p:nvPr/>
        </p:nvSpPr>
        <p:spPr>
          <a:xfrm>
            <a:off x="548640" y="4233672"/>
            <a:ext cx="2263140" cy="146304"/>
          </a:xfrm>
          <a:prstGeom prst="roundRect">
            <a:avLst>
              <a:gd name="adj" fmla="val 50000"/>
            </a:avLst>
          </a:prstGeom>
          <a:solidFill>
            <a:srgbClr val="C9A227"/>
          </a:solidFill>
        </p:spPr>
      </p:sp>
      <p:sp>
        <p:nvSpPr>
          <p:cNvPr id="20" name="Text 18"/>
          <p:cNvSpPr txBox="1"/>
          <p:nvPr/>
        </p:nvSpPr>
        <p:spPr>
          <a:xfrm>
            <a:off x="5120640" y="4123944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617720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Development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892040"/>
            <a:ext cx="4526280" cy="146304"/>
          </a:xfrm>
          <a:prstGeom prst="roundRect">
            <a:avLst>
              <a:gd name="adj" fmla="val 50000"/>
            </a:avLst>
          </a:prstGeom>
          <a:solidFill>
            <a:srgbClr val="E8E3D6"/>
          </a:solidFill>
        </p:spPr>
      </p:sp>
      <p:sp>
        <p:nvSpPr>
          <p:cNvPr id="23" name="Shape 21"/>
          <p:cNvSpPr/>
          <p:nvPr/>
        </p:nvSpPr>
        <p:spPr>
          <a:xfrm>
            <a:off x="548640" y="4892040"/>
            <a:ext cx="109728" cy="146304"/>
          </a:xfrm>
          <a:prstGeom prst="roundRect">
            <a:avLst>
              <a:gd name="adj" fmla="val 66667"/>
            </a:avLst>
          </a:prstGeom>
          <a:solidFill>
            <a:srgbClr val="C9C2AF"/>
          </a:solidFill>
        </p:spPr>
      </p:sp>
      <p:sp>
        <p:nvSpPr>
          <p:cNvPr id="24" name="Text 22"/>
          <p:cNvSpPr txBox="1"/>
          <p:nvPr/>
        </p:nvSpPr>
        <p:spPr>
          <a:xfrm>
            <a:off x="5120640" y="4782312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276088"/>
            <a:ext cx="53492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 Accuracy Improvement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550408"/>
            <a:ext cx="4526280" cy="146304"/>
          </a:xfrm>
          <a:prstGeom prst="roundRect">
            <a:avLst>
              <a:gd name="adj" fmla="val 50000"/>
            </a:avLst>
          </a:prstGeom>
          <a:solidFill>
            <a:srgbClr val="E8E3D6"/>
          </a:solidFill>
        </p:spPr>
      </p:sp>
      <p:sp>
        <p:nvSpPr>
          <p:cNvPr id="27" name="Shape 25"/>
          <p:cNvSpPr/>
          <p:nvPr/>
        </p:nvSpPr>
        <p:spPr>
          <a:xfrm>
            <a:off x="548640" y="5550408"/>
            <a:ext cx="109728" cy="146304"/>
          </a:xfrm>
          <a:prstGeom prst="roundRect">
            <a:avLst>
              <a:gd name="adj" fmla="val 66667"/>
            </a:avLst>
          </a:prstGeom>
          <a:solidFill>
            <a:srgbClr val="C9C2AF"/>
          </a:solidFill>
        </p:spPr>
      </p:sp>
      <p:sp>
        <p:nvSpPr>
          <p:cNvPr id="28" name="Text 26"/>
          <p:cNvSpPr txBox="1"/>
          <p:nvPr/>
        </p:nvSpPr>
        <p:spPr>
          <a:xfrm>
            <a:off x="5120640" y="5440680"/>
            <a:ext cx="77724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6B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1417320"/>
            <a:ext cx="5257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Roadmap</a:t>
            </a:r>
            <a:endParaRPr lang="en-US" sz="1700" dirty="0"/>
          </a:p>
        </p:txBody>
      </p:sp>
      <p:sp>
        <p:nvSpPr>
          <p:cNvPr id="30" name="Shape 28"/>
          <p:cNvSpPr/>
          <p:nvPr/>
        </p:nvSpPr>
        <p:spPr>
          <a:xfrm>
            <a:off x="6501384" y="1947672"/>
            <a:ext cx="0" cy="4023360"/>
          </a:xfrm>
          <a:prstGeom prst="line">
            <a:avLst/>
          </a:prstGeom>
          <a:noFill/>
          <a:ln w="19050">
            <a:solidFill>
              <a:srgbClr val="DDD6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1874520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Ideation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10058400" y="186537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</p:spPr>
      </p:sp>
      <p:sp>
        <p:nvSpPr>
          <p:cNvPr id="34" name="Text 32"/>
          <p:cNvSpPr txBox="1"/>
          <p:nvPr/>
        </p:nvSpPr>
        <p:spPr>
          <a:xfrm>
            <a:off x="10058400" y="186537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400800" y="2724912"/>
            <a:ext cx="201168" cy="20116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766560" y="2651760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Requirements &amp; Planning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10058400" y="264261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</p:spPr>
      </p:sp>
      <p:sp>
        <p:nvSpPr>
          <p:cNvPr id="38" name="Text 36"/>
          <p:cNvSpPr txBox="1"/>
          <p:nvPr/>
        </p:nvSpPr>
        <p:spPr>
          <a:xfrm>
            <a:off x="10058400" y="264261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400800" y="3502152"/>
            <a:ext cx="201168" cy="201168"/>
          </a:xfrm>
          <a:prstGeom prst="ellipse">
            <a:avLst/>
          </a:prstGeom>
          <a:solidFill>
            <a:srgbClr val="1B2A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766560" y="3429000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UI/UX Design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10058400" y="341985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B2A4A"/>
          </a:solidFill>
        </p:spPr>
      </p:sp>
      <p:sp>
        <p:nvSpPr>
          <p:cNvPr id="42" name="Text 40"/>
          <p:cNvSpPr txBox="1"/>
          <p:nvPr/>
        </p:nvSpPr>
        <p:spPr>
          <a:xfrm>
            <a:off x="10058400" y="341985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0" y="4279392"/>
            <a:ext cx="201168" cy="201168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66560" y="4206240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— Frontend Development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10058400" y="419709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C9A227"/>
          </a:solidFill>
        </p:spPr>
      </p:sp>
      <p:sp>
        <p:nvSpPr>
          <p:cNvPr id="46" name="Text 44"/>
          <p:cNvSpPr txBox="1"/>
          <p:nvPr/>
        </p:nvSpPr>
        <p:spPr>
          <a:xfrm>
            <a:off x="10058400" y="419709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Completed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400800" y="5056632"/>
            <a:ext cx="201168" cy="201168"/>
          </a:xfrm>
          <a:prstGeom prst="ellipse">
            <a:avLst/>
          </a:prstGeom>
          <a:solidFill>
            <a:srgbClr val="A85C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766560" y="4983480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 — Backend Completion</a:t>
            </a:r>
            <a:endParaRPr lang="en-US" sz="1250" dirty="0"/>
          </a:p>
        </p:txBody>
      </p:sp>
      <p:sp>
        <p:nvSpPr>
          <p:cNvPr id="49" name="Shape 47"/>
          <p:cNvSpPr/>
          <p:nvPr/>
        </p:nvSpPr>
        <p:spPr>
          <a:xfrm>
            <a:off x="10058400" y="497433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A85C32"/>
          </a:solidFill>
        </p:spPr>
      </p:sp>
      <p:sp>
        <p:nvSpPr>
          <p:cNvPr id="50" name="Text 48"/>
          <p:cNvSpPr txBox="1"/>
          <p:nvPr/>
        </p:nvSpPr>
        <p:spPr>
          <a:xfrm>
            <a:off x="10058400" y="497433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400800" y="5833872"/>
            <a:ext cx="201168" cy="201168"/>
          </a:xfrm>
          <a:prstGeom prst="ellipse">
            <a:avLst/>
          </a:prstGeom>
          <a:solidFill>
            <a:srgbClr val="A85C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766560" y="5760720"/>
            <a:ext cx="3429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26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6 — Predictor Accuracy Improvement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10058400" y="5751576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A85C32"/>
          </a:solidFill>
        </p:spPr>
      </p:sp>
      <p:sp>
        <p:nvSpPr>
          <p:cNvPr id="54" name="Text 52"/>
          <p:cNvSpPr txBox="1"/>
          <p:nvPr/>
        </p:nvSpPr>
        <p:spPr>
          <a:xfrm>
            <a:off x="10058400" y="5751576"/>
            <a:ext cx="1600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1997</Words>
  <Application>WPS Writer</Application>
  <PresentationFormat>On-screen Show (16:9)</PresentationFormat>
  <Paragraphs>181</Paragraphs>
  <Slides>5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宋体-简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WPS_1735490204</cp:lastModifiedBy>
  <cp:revision>2</cp:revision>
  <dcterms:created xsi:type="dcterms:W3CDTF">2026-09-15T20:03:28Z</dcterms:created>
  <dcterms:modified xsi:type="dcterms:W3CDTF">2026-09-15T20:03:28Z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2C1E1F907D129B4B90A4A96ABEE3FCD9_43</vt:lpwstr>
  </property>
  <property fmtid="{D5CDD505-2E9C-101B-9397-08002B2CF9AE}" pid="3" name="KSOProductBuildVer">
    <vt:lpwstr>1033-6.10.2.8397</vt:lpwstr>
  </property>
</Properties>
</file>